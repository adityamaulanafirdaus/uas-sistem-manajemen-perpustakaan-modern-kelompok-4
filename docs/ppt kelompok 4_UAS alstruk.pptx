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ontserrat Ultra-Bold" charset="1" panose="00000900000000000000"/>
      <p:regular r:id="rId14"/>
    </p:embeddedFont>
    <p:embeddedFont>
      <p:font typeface="Amsterdam Four" charset="1" panose="02000500000000000000"/>
      <p:regular r:id="rId15"/>
    </p:embeddedFont>
    <p:embeddedFont>
      <p:font typeface="Montserrat" charset="1" panose="00000500000000000000"/>
      <p:regular r:id="rId16"/>
    </p:embeddedFont>
    <p:embeddedFont>
      <p:font typeface="Anonymous Pro" charset="1" panose="02060609030202000504"/>
      <p:regular r:id="rId17"/>
    </p:embeddedFont>
    <p:embeddedFont>
      <p:font typeface="Lovelo" charset="1" panose="02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6942223" y="1074087"/>
            <a:ext cx="317077" cy="149891"/>
          </a:xfrm>
          <a:custGeom>
            <a:avLst/>
            <a:gdLst/>
            <a:ahLst/>
            <a:cxnLst/>
            <a:rect r="r" b="b" t="t" l="l"/>
            <a:pathLst>
              <a:path h="149891" w="317077">
                <a:moveTo>
                  <a:pt x="0" y="0"/>
                </a:moveTo>
                <a:lnTo>
                  <a:pt x="317077" y="0"/>
                </a:lnTo>
                <a:lnTo>
                  <a:pt x="317077" y="149891"/>
                </a:lnTo>
                <a:lnTo>
                  <a:pt x="0" y="1498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41904" y="4433596"/>
            <a:ext cx="13034935" cy="2124658"/>
          </a:xfrm>
          <a:prstGeom prst="rect">
            <a:avLst/>
          </a:prstGeom>
        </p:spPr>
        <p:txBody>
          <a:bodyPr anchor="t" rtlCol="false" tIns="0" lIns="0" bIns="0" rIns="0">
            <a:spAutoFit/>
          </a:bodyPr>
          <a:lstStyle/>
          <a:p>
            <a:pPr algn="ctr">
              <a:lnSpc>
                <a:spcPts val="14856"/>
              </a:lnSpc>
            </a:pPr>
            <a:r>
              <a:rPr lang="en-US" b="true" sz="18571" spc="-1857">
                <a:solidFill>
                  <a:srgbClr val="1E1E1E"/>
                </a:solidFill>
                <a:latin typeface="Montserrat Ultra-Bold"/>
                <a:ea typeface="Montserrat Ultra-Bold"/>
                <a:cs typeface="Montserrat Ultra-Bold"/>
                <a:sym typeface="Montserrat Ultra-Bold"/>
              </a:rPr>
              <a:t>KELOMPOK</a:t>
            </a:r>
          </a:p>
        </p:txBody>
      </p:sp>
      <p:sp>
        <p:nvSpPr>
          <p:cNvPr name="TextBox 4" id="4"/>
          <p:cNvSpPr txBox="true"/>
          <p:nvPr/>
        </p:nvSpPr>
        <p:spPr>
          <a:xfrm rot="-263831">
            <a:off x="9162787" y="4463611"/>
            <a:ext cx="12243792" cy="1226820"/>
          </a:xfrm>
          <a:prstGeom prst="rect">
            <a:avLst/>
          </a:prstGeom>
        </p:spPr>
        <p:txBody>
          <a:bodyPr anchor="t" rtlCol="false" tIns="0" lIns="0" bIns="0" rIns="0">
            <a:spAutoFit/>
          </a:bodyPr>
          <a:lstStyle/>
          <a:p>
            <a:pPr algn="ctr">
              <a:lnSpc>
                <a:spcPts val="10080"/>
              </a:lnSpc>
            </a:pPr>
            <a:r>
              <a:rPr lang="en-US" sz="7200" spc="-144">
                <a:solidFill>
                  <a:srgbClr val="FF3131"/>
                </a:solidFill>
                <a:latin typeface="Amsterdam Four"/>
                <a:ea typeface="Amsterdam Four"/>
                <a:cs typeface="Amsterdam Four"/>
                <a:sym typeface="Amsterdam Four"/>
              </a:rPr>
              <a:t>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386844" y="1160338"/>
            <a:ext cx="6361845" cy="642826"/>
          </a:xfrm>
          <a:prstGeom prst="rect">
            <a:avLst/>
          </a:prstGeom>
        </p:spPr>
        <p:txBody>
          <a:bodyPr anchor="t" rtlCol="false" tIns="0" lIns="0" bIns="0" rIns="0">
            <a:spAutoFit/>
          </a:bodyPr>
          <a:lstStyle/>
          <a:p>
            <a:pPr algn="l">
              <a:lnSpc>
                <a:spcPts val="4435"/>
              </a:lnSpc>
            </a:pPr>
            <a:r>
              <a:rPr lang="en-US" sz="5544" spc="-554" b="true">
                <a:solidFill>
                  <a:srgbClr val="1E1E1E"/>
                </a:solidFill>
                <a:latin typeface="Montserrat Ultra-Bold"/>
                <a:ea typeface="Montserrat Ultra-Bold"/>
                <a:cs typeface="Montserrat Ultra-Bold"/>
                <a:sym typeface="Montserrat Ultra-Bold"/>
              </a:rPr>
              <a:t>PEMBAGIAN TUGAS</a:t>
            </a:r>
          </a:p>
        </p:txBody>
      </p:sp>
      <p:sp>
        <p:nvSpPr>
          <p:cNvPr name="Freeform 3" id="3"/>
          <p:cNvSpPr/>
          <p:nvPr/>
        </p:nvSpPr>
        <p:spPr>
          <a:xfrm flipH="false" flipV="false" rot="0">
            <a:off x="16942223" y="1074087"/>
            <a:ext cx="317077" cy="149891"/>
          </a:xfrm>
          <a:custGeom>
            <a:avLst/>
            <a:gdLst/>
            <a:ahLst/>
            <a:cxnLst/>
            <a:rect r="r" b="b" t="t" l="l"/>
            <a:pathLst>
              <a:path h="149891" w="317077">
                <a:moveTo>
                  <a:pt x="0" y="0"/>
                </a:moveTo>
                <a:lnTo>
                  <a:pt x="317077" y="0"/>
                </a:lnTo>
                <a:lnTo>
                  <a:pt x="317077" y="149891"/>
                </a:lnTo>
                <a:lnTo>
                  <a:pt x="0" y="1498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86844" y="2688990"/>
            <a:ext cx="17901156" cy="472993"/>
          </a:xfrm>
          <a:prstGeom prst="rect">
            <a:avLst/>
          </a:prstGeom>
        </p:spPr>
        <p:txBody>
          <a:bodyPr anchor="t" rtlCol="false" tIns="0" lIns="0" bIns="0" rIns="0">
            <a:spAutoFit/>
          </a:bodyPr>
          <a:lstStyle/>
          <a:p>
            <a:pPr algn="l">
              <a:lnSpc>
                <a:spcPts val="3355"/>
              </a:lnSpc>
            </a:pPr>
            <a:r>
              <a:rPr lang="en-US" sz="4194" spc="-218">
                <a:solidFill>
                  <a:srgbClr val="1E1E1E"/>
                </a:solidFill>
                <a:latin typeface="Montserrat"/>
                <a:ea typeface="Montserrat"/>
                <a:cs typeface="Montserrat"/>
                <a:sym typeface="Montserrat"/>
              </a:rPr>
              <a:t>Aditya Maulana Firdaus — Lead Developer &amp; UI Architect</a:t>
            </a:r>
          </a:p>
          <a:p>
            <a:pPr algn="l">
              <a:lnSpc>
                <a:spcPts val="741"/>
              </a:lnSpc>
            </a:pPr>
          </a:p>
        </p:txBody>
      </p:sp>
      <p:sp>
        <p:nvSpPr>
          <p:cNvPr name="TextBox 5" id="5"/>
          <p:cNvSpPr txBox="true"/>
          <p:nvPr/>
        </p:nvSpPr>
        <p:spPr>
          <a:xfrm rot="0">
            <a:off x="386844" y="3943033"/>
            <a:ext cx="18288000" cy="1091016"/>
          </a:xfrm>
          <a:prstGeom prst="rect">
            <a:avLst/>
          </a:prstGeom>
        </p:spPr>
        <p:txBody>
          <a:bodyPr anchor="t" rtlCol="false" tIns="0" lIns="0" bIns="0" rIns="0">
            <a:spAutoFit/>
          </a:bodyPr>
          <a:lstStyle/>
          <a:p>
            <a:pPr algn="l">
              <a:lnSpc>
                <a:spcPts val="4019"/>
              </a:lnSpc>
            </a:pPr>
            <a:r>
              <a:rPr lang="en-US" sz="3902" spc="-269">
                <a:solidFill>
                  <a:srgbClr val="1E1E1E"/>
                </a:solidFill>
                <a:latin typeface="Montserrat"/>
                <a:ea typeface="Montserrat"/>
                <a:cs typeface="Montserrat"/>
                <a:sym typeface="Montserrat"/>
              </a:rPr>
              <a:t>Nazwa Allia Kusmana — Software Engineer (Data Initialization &amp; Information Specialist)</a:t>
            </a:r>
          </a:p>
          <a:p>
            <a:pPr algn="l">
              <a:lnSpc>
                <a:spcPts val="626"/>
              </a:lnSpc>
            </a:pPr>
          </a:p>
        </p:txBody>
      </p:sp>
      <p:sp>
        <p:nvSpPr>
          <p:cNvPr name="TextBox 6" id="6"/>
          <p:cNvSpPr txBox="true"/>
          <p:nvPr/>
        </p:nvSpPr>
        <p:spPr>
          <a:xfrm rot="0">
            <a:off x="386844" y="5824624"/>
            <a:ext cx="18288000" cy="606689"/>
          </a:xfrm>
          <a:prstGeom prst="rect">
            <a:avLst/>
          </a:prstGeom>
        </p:spPr>
        <p:txBody>
          <a:bodyPr anchor="t" rtlCol="false" tIns="0" lIns="0" bIns="0" rIns="0">
            <a:spAutoFit/>
          </a:bodyPr>
          <a:lstStyle/>
          <a:p>
            <a:pPr algn="l">
              <a:lnSpc>
                <a:spcPts val="4122"/>
              </a:lnSpc>
            </a:pPr>
            <a:r>
              <a:rPr lang="en-US" sz="4002" spc="-208">
                <a:solidFill>
                  <a:srgbClr val="1E1E1E"/>
                </a:solidFill>
                <a:latin typeface="Montserrat"/>
                <a:ea typeface="Montserrat"/>
                <a:cs typeface="Montserrat"/>
                <a:sym typeface="Montserrat"/>
              </a:rPr>
              <a:t>Sri Agnia — Software Engineer (Data Modification Specialist)</a:t>
            </a:r>
          </a:p>
          <a:p>
            <a:pPr algn="l">
              <a:lnSpc>
                <a:spcPts val="706"/>
              </a:lnSpc>
            </a:pPr>
          </a:p>
        </p:txBody>
      </p:sp>
      <p:sp>
        <p:nvSpPr>
          <p:cNvPr name="TextBox 7" id="7"/>
          <p:cNvSpPr txBox="true"/>
          <p:nvPr/>
        </p:nvSpPr>
        <p:spPr>
          <a:xfrm rot="0">
            <a:off x="386844" y="7221888"/>
            <a:ext cx="17901156" cy="620021"/>
          </a:xfrm>
          <a:prstGeom prst="rect">
            <a:avLst/>
          </a:prstGeom>
        </p:spPr>
        <p:txBody>
          <a:bodyPr anchor="t" rtlCol="false" tIns="0" lIns="0" bIns="0" rIns="0">
            <a:spAutoFit/>
          </a:bodyPr>
          <a:lstStyle/>
          <a:p>
            <a:pPr algn="l">
              <a:lnSpc>
                <a:spcPts val="4129"/>
              </a:lnSpc>
            </a:pPr>
            <a:r>
              <a:rPr lang="en-US" sz="4009" spc="-208">
                <a:solidFill>
                  <a:srgbClr val="1E1E1E"/>
                </a:solidFill>
                <a:latin typeface="Montserrat"/>
                <a:ea typeface="Montserrat"/>
                <a:cs typeface="Montserrat"/>
                <a:sym typeface="Montserrat"/>
              </a:rPr>
              <a:t>Devina Putri Nur Aliah — Software Engineer (Circulation &amp; Sorting Specialist)</a:t>
            </a:r>
          </a:p>
          <a:p>
            <a:pPr algn="l">
              <a:lnSpc>
                <a:spcPts val="765"/>
              </a:lnSpc>
            </a:pPr>
          </a:p>
        </p:txBody>
      </p:sp>
      <p:sp>
        <p:nvSpPr>
          <p:cNvPr name="TextBox 8" id="8"/>
          <p:cNvSpPr txBox="true"/>
          <p:nvPr/>
        </p:nvSpPr>
        <p:spPr>
          <a:xfrm rot="0">
            <a:off x="386844" y="8629627"/>
            <a:ext cx="17901156" cy="620021"/>
          </a:xfrm>
          <a:prstGeom prst="rect">
            <a:avLst/>
          </a:prstGeom>
        </p:spPr>
        <p:txBody>
          <a:bodyPr anchor="t" rtlCol="false" tIns="0" lIns="0" bIns="0" rIns="0">
            <a:spAutoFit/>
          </a:bodyPr>
          <a:lstStyle/>
          <a:p>
            <a:pPr algn="l">
              <a:lnSpc>
                <a:spcPts val="4129"/>
              </a:lnSpc>
            </a:pPr>
            <a:r>
              <a:rPr lang="en-US" sz="4009" spc="-208">
                <a:solidFill>
                  <a:srgbClr val="1E1E1E"/>
                </a:solidFill>
                <a:latin typeface="Montserrat"/>
                <a:ea typeface="Montserrat"/>
                <a:cs typeface="Montserrat"/>
                <a:sym typeface="Montserrat"/>
              </a:rPr>
              <a:t>Rezki Ahmad Fauzi] — Software Engineer &amp; Technical Writer</a:t>
            </a:r>
          </a:p>
          <a:p>
            <a:pPr algn="l">
              <a:lnSpc>
                <a:spcPts val="765"/>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Freeform 2" id="2"/>
          <p:cNvSpPr/>
          <p:nvPr/>
        </p:nvSpPr>
        <p:spPr>
          <a:xfrm flipH="false" flipV="false" rot="0">
            <a:off x="16942223" y="1074087"/>
            <a:ext cx="317077" cy="149891"/>
          </a:xfrm>
          <a:custGeom>
            <a:avLst/>
            <a:gdLst/>
            <a:ahLst/>
            <a:cxnLst/>
            <a:rect r="r" b="b" t="t" l="l"/>
            <a:pathLst>
              <a:path h="149891" w="317077">
                <a:moveTo>
                  <a:pt x="0" y="0"/>
                </a:moveTo>
                <a:lnTo>
                  <a:pt x="317077" y="0"/>
                </a:lnTo>
                <a:lnTo>
                  <a:pt x="317077" y="149891"/>
                </a:lnTo>
                <a:lnTo>
                  <a:pt x="0" y="1498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02419">
            <a:off x="-152681" y="8387031"/>
            <a:ext cx="2362762" cy="1742537"/>
          </a:xfrm>
          <a:custGeom>
            <a:avLst/>
            <a:gdLst/>
            <a:ahLst/>
            <a:cxnLst/>
            <a:rect r="r" b="b" t="t" l="l"/>
            <a:pathLst>
              <a:path h="1742537" w="2362762">
                <a:moveTo>
                  <a:pt x="0" y="0"/>
                </a:moveTo>
                <a:lnTo>
                  <a:pt x="2362762" y="0"/>
                </a:lnTo>
                <a:lnTo>
                  <a:pt x="2362762" y="1742538"/>
                </a:lnTo>
                <a:lnTo>
                  <a:pt x="0" y="17425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31731" y="5143500"/>
            <a:ext cx="5020985" cy="5625754"/>
          </a:xfrm>
          <a:custGeom>
            <a:avLst/>
            <a:gdLst/>
            <a:ahLst/>
            <a:cxnLst/>
            <a:rect r="r" b="b" t="t" l="l"/>
            <a:pathLst>
              <a:path h="5625754" w="5020985">
                <a:moveTo>
                  <a:pt x="0" y="0"/>
                </a:moveTo>
                <a:lnTo>
                  <a:pt x="5020985" y="0"/>
                </a:lnTo>
                <a:lnTo>
                  <a:pt x="5020985" y="5625754"/>
                </a:lnTo>
                <a:lnTo>
                  <a:pt x="0" y="5625754"/>
                </a:lnTo>
                <a:lnTo>
                  <a:pt x="0" y="0"/>
                </a:lnTo>
                <a:close/>
              </a:path>
            </a:pathLst>
          </a:custGeom>
          <a:blipFill>
            <a:blip r:embed="rId6"/>
            <a:stretch>
              <a:fillRect l="0" t="0" r="0" b="0"/>
            </a:stretch>
          </a:blipFill>
        </p:spPr>
      </p:sp>
      <p:sp>
        <p:nvSpPr>
          <p:cNvPr name="TextBox 5" id="5"/>
          <p:cNvSpPr txBox="true"/>
          <p:nvPr/>
        </p:nvSpPr>
        <p:spPr>
          <a:xfrm rot="0">
            <a:off x="1028700" y="6748319"/>
            <a:ext cx="13127266" cy="785241"/>
          </a:xfrm>
          <a:prstGeom prst="rect">
            <a:avLst/>
          </a:prstGeom>
        </p:spPr>
        <p:txBody>
          <a:bodyPr anchor="t" rtlCol="false" tIns="0" lIns="0" bIns="0" rIns="0">
            <a:spAutoFit/>
          </a:bodyPr>
          <a:lstStyle/>
          <a:p>
            <a:pPr algn="just">
              <a:lnSpc>
                <a:spcPts val="3131"/>
              </a:lnSpc>
            </a:pPr>
            <a:r>
              <a:rPr lang="en-US" sz="2699" spc="-53">
                <a:solidFill>
                  <a:srgbClr val="1E1E1E"/>
                </a:solidFill>
                <a:latin typeface="Montserrat"/>
                <a:ea typeface="Montserrat"/>
                <a:cs typeface="Montserrat"/>
                <a:sym typeface="Montserrat"/>
              </a:rPr>
              <a:t>Karena perpustakaan saat ini membutuhkan suatu sistem yang bisa membantu mengelola data buku dengan lebih efektif dan efisien. </a:t>
            </a:r>
          </a:p>
        </p:txBody>
      </p:sp>
      <p:sp>
        <p:nvSpPr>
          <p:cNvPr name="TextBox 6" id="6"/>
          <p:cNvSpPr txBox="true"/>
          <p:nvPr/>
        </p:nvSpPr>
        <p:spPr>
          <a:xfrm rot="0">
            <a:off x="466374" y="1064214"/>
            <a:ext cx="11944784" cy="1382393"/>
          </a:xfrm>
          <a:prstGeom prst="rect">
            <a:avLst/>
          </a:prstGeom>
        </p:spPr>
        <p:txBody>
          <a:bodyPr anchor="t" rtlCol="false" tIns="0" lIns="0" bIns="0" rIns="0">
            <a:spAutoFit/>
          </a:bodyPr>
          <a:lstStyle/>
          <a:p>
            <a:pPr algn="l">
              <a:lnSpc>
                <a:spcPts val="5119"/>
              </a:lnSpc>
            </a:pPr>
            <a:r>
              <a:rPr lang="en-US" sz="6399" spc="-447" b="true">
                <a:solidFill>
                  <a:srgbClr val="1E1E1E"/>
                </a:solidFill>
                <a:latin typeface="Montserrat Ultra-Bold"/>
                <a:ea typeface="Montserrat Ultra-Bold"/>
                <a:cs typeface="Montserrat Ultra-Bold"/>
                <a:sym typeface="Montserrat Ultra-Bold"/>
              </a:rPr>
              <a:t>sistem manejemen perpustakaan modern</a:t>
            </a:r>
          </a:p>
        </p:txBody>
      </p:sp>
      <p:sp>
        <p:nvSpPr>
          <p:cNvPr name="TextBox 7" id="7"/>
          <p:cNvSpPr txBox="true"/>
          <p:nvPr/>
        </p:nvSpPr>
        <p:spPr>
          <a:xfrm rot="0">
            <a:off x="466374" y="6108197"/>
            <a:ext cx="7421214" cy="452005"/>
          </a:xfrm>
          <a:prstGeom prst="rect">
            <a:avLst/>
          </a:prstGeom>
        </p:spPr>
        <p:txBody>
          <a:bodyPr anchor="t" rtlCol="false" tIns="0" lIns="0" bIns="0" rIns="0">
            <a:spAutoFit/>
          </a:bodyPr>
          <a:lstStyle/>
          <a:p>
            <a:pPr algn="l">
              <a:lnSpc>
                <a:spcPts val="3181"/>
              </a:lnSpc>
            </a:pPr>
            <a:r>
              <a:rPr lang="en-US" sz="3976" spc="-278" b="true">
                <a:solidFill>
                  <a:srgbClr val="1E1E1E"/>
                </a:solidFill>
                <a:latin typeface="Montserrat Ultra-Bold"/>
                <a:ea typeface="Montserrat Ultra-Bold"/>
                <a:cs typeface="Montserrat Ultra-Bold"/>
                <a:sym typeface="Montserrat Ultra-Bold"/>
              </a:rPr>
              <a:t>Alasan pemilihan?</a:t>
            </a:r>
          </a:p>
        </p:txBody>
      </p:sp>
      <p:sp>
        <p:nvSpPr>
          <p:cNvPr name="TextBox 8" id="8"/>
          <p:cNvSpPr txBox="true"/>
          <p:nvPr/>
        </p:nvSpPr>
        <p:spPr>
          <a:xfrm rot="0">
            <a:off x="1028700" y="2609391"/>
            <a:ext cx="15719938" cy="2901695"/>
          </a:xfrm>
          <a:prstGeom prst="rect">
            <a:avLst/>
          </a:prstGeom>
        </p:spPr>
        <p:txBody>
          <a:bodyPr anchor="t" rtlCol="false" tIns="0" lIns="0" bIns="0" rIns="0">
            <a:spAutoFit/>
          </a:bodyPr>
          <a:lstStyle/>
          <a:p>
            <a:pPr algn="just">
              <a:lnSpc>
                <a:spcPts val="3363"/>
              </a:lnSpc>
            </a:pPr>
            <a:r>
              <a:rPr lang="en-US" sz="2899" spc="-57">
                <a:solidFill>
                  <a:srgbClr val="1E1E1E"/>
                </a:solidFill>
                <a:latin typeface="Montserrat"/>
                <a:ea typeface="Montserrat"/>
                <a:cs typeface="Montserrat"/>
                <a:sym typeface="Montserrat"/>
              </a:rPr>
              <a:t> Sistem Perpustakaan Modern adalah suatu sistem yang dirancang untuk mengelola berbagai kegiatan di perpustakaan, mulai dari mengelola koleksi buku, mencari informasi buku, proses peminjaman dan pengembalian buku, hingga menyimpan riwayat transaksi. Dengan sistem ini, petugas perpustakaan bisa mengelola data dengan lebih mudah, dan pengguna bisa mendapatkan informasi tentang ketersediaan buku dengan cepat dan akurat.</a:t>
            </a:r>
          </a:p>
          <a:p>
            <a:pPr algn="just">
              <a:lnSpc>
                <a:spcPts val="289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1028700" y="2092542"/>
            <a:ext cx="13478232" cy="4808055"/>
          </a:xfrm>
          <a:prstGeom prst="rect">
            <a:avLst/>
          </a:prstGeom>
        </p:spPr>
        <p:txBody>
          <a:bodyPr anchor="t" rtlCol="false" tIns="0" lIns="0" bIns="0" rIns="0">
            <a:spAutoFit/>
          </a:bodyPr>
          <a:lstStyle/>
          <a:p>
            <a:pPr algn="ctr">
              <a:lnSpc>
                <a:spcPts val="6427"/>
              </a:lnSpc>
            </a:pPr>
            <a:r>
              <a:rPr lang="en-US" sz="3967" spc="-79">
                <a:solidFill>
                  <a:srgbClr val="1E1E1E"/>
                </a:solidFill>
                <a:latin typeface="Montserrat"/>
                <a:ea typeface="Montserrat"/>
                <a:cs typeface="Montserrat"/>
                <a:sym typeface="Montserrat"/>
              </a:rPr>
              <a:t>sistem dapat menambahkan data buku baru, menampilkan semua data buku yang ada, mencari buku berdasarkan judul, melayani peminjaman dan pengembalian buku, dan menampilkan daftar buku yang sedang dipinjam juga menghapus data buku jika buku tersebut tidak tersedia lagi atau rusak.</a:t>
            </a:r>
          </a:p>
        </p:txBody>
      </p:sp>
      <p:sp>
        <p:nvSpPr>
          <p:cNvPr name="Freeform 3" id="3"/>
          <p:cNvSpPr/>
          <p:nvPr/>
        </p:nvSpPr>
        <p:spPr>
          <a:xfrm flipH="false" flipV="false" rot="0">
            <a:off x="16942223" y="1074087"/>
            <a:ext cx="317077" cy="149891"/>
          </a:xfrm>
          <a:custGeom>
            <a:avLst/>
            <a:gdLst/>
            <a:ahLst/>
            <a:cxnLst/>
            <a:rect r="r" b="b" t="t" l="l"/>
            <a:pathLst>
              <a:path h="149891" w="317077">
                <a:moveTo>
                  <a:pt x="0" y="0"/>
                </a:moveTo>
                <a:lnTo>
                  <a:pt x="317077" y="0"/>
                </a:lnTo>
                <a:lnTo>
                  <a:pt x="317077" y="149891"/>
                </a:lnTo>
                <a:lnTo>
                  <a:pt x="0" y="1498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589127" y="5597658"/>
            <a:ext cx="5078137" cy="5078137"/>
          </a:xfrm>
          <a:custGeom>
            <a:avLst/>
            <a:gdLst/>
            <a:ahLst/>
            <a:cxnLst/>
            <a:rect r="r" b="b" t="t" l="l"/>
            <a:pathLst>
              <a:path h="5078137" w="5078137">
                <a:moveTo>
                  <a:pt x="0" y="0"/>
                </a:moveTo>
                <a:lnTo>
                  <a:pt x="5078137" y="0"/>
                </a:lnTo>
                <a:lnTo>
                  <a:pt x="5078137" y="5078137"/>
                </a:lnTo>
                <a:lnTo>
                  <a:pt x="0" y="50781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589127" y="0"/>
            <a:ext cx="2629383" cy="2716539"/>
          </a:xfrm>
          <a:custGeom>
            <a:avLst/>
            <a:gdLst/>
            <a:ahLst/>
            <a:cxnLst/>
            <a:rect r="r" b="b" t="t" l="l"/>
            <a:pathLst>
              <a:path h="2716539" w="2629383">
                <a:moveTo>
                  <a:pt x="0" y="0"/>
                </a:moveTo>
                <a:lnTo>
                  <a:pt x="2629383" y="0"/>
                </a:lnTo>
                <a:lnTo>
                  <a:pt x="2629383" y="2716539"/>
                </a:lnTo>
                <a:lnTo>
                  <a:pt x="0" y="27165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0" y="498289"/>
            <a:ext cx="12333463" cy="1756178"/>
          </a:xfrm>
          <a:prstGeom prst="rect">
            <a:avLst/>
          </a:prstGeom>
        </p:spPr>
        <p:txBody>
          <a:bodyPr anchor="t" rtlCol="false" tIns="0" lIns="0" bIns="0" rIns="0">
            <a:spAutoFit/>
          </a:bodyPr>
          <a:lstStyle/>
          <a:p>
            <a:pPr algn="l">
              <a:lnSpc>
                <a:spcPts val="6511"/>
              </a:lnSpc>
            </a:pPr>
            <a:r>
              <a:rPr lang="en-US" sz="8139" spc="-813" b="true">
                <a:solidFill>
                  <a:srgbClr val="1E1E1E"/>
                </a:solidFill>
                <a:latin typeface="Montserrat Ultra-Bold"/>
                <a:ea typeface="Montserrat Ultra-Bold"/>
                <a:cs typeface="Montserrat Ultra-Bold"/>
                <a:sym typeface="Montserrat Ultra-Bold"/>
              </a:rPr>
              <a:t> Analisis kebutuhan Sistem</a:t>
            </a:r>
          </a:p>
          <a:p>
            <a:pPr algn="l">
              <a:lnSpc>
                <a:spcPts val="651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grpSp>
        <p:nvGrpSpPr>
          <p:cNvPr name="Group 2" id="2"/>
          <p:cNvGrpSpPr/>
          <p:nvPr/>
        </p:nvGrpSpPr>
        <p:grpSpPr>
          <a:xfrm rot="0">
            <a:off x="2821722" y="2924654"/>
            <a:ext cx="12864925" cy="6845945"/>
            <a:chOff x="0" y="0"/>
            <a:chExt cx="1530706" cy="814551"/>
          </a:xfrm>
        </p:grpSpPr>
        <p:sp>
          <p:nvSpPr>
            <p:cNvPr name="Freeform 3" id="3"/>
            <p:cNvSpPr/>
            <p:nvPr/>
          </p:nvSpPr>
          <p:spPr>
            <a:xfrm flipH="false" flipV="false" rot="0">
              <a:off x="0" y="0"/>
              <a:ext cx="1530706" cy="814550"/>
            </a:xfrm>
            <a:custGeom>
              <a:avLst/>
              <a:gdLst/>
              <a:ahLst/>
              <a:cxnLst/>
              <a:rect r="r" b="b" t="t" l="l"/>
              <a:pathLst>
                <a:path h="814550" w="1530706">
                  <a:moveTo>
                    <a:pt x="0" y="0"/>
                  </a:moveTo>
                  <a:lnTo>
                    <a:pt x="1530706" y="0"/>
                  </a:lnTo>
                  <a:lnTo>
                    <a:pt x="1530706" y="814550"/>
                  </a:lnTo>
                  <a:lnTo>
                    <a:pt x="0" y="814550"/>
                  </a:lnTo>
                  <a:close/>
                </a:path>
              </a:pathLst>
            </a:custGeom>
            <a:blipFill>
              <a:blip r:embed="rId2"/>
              <a:stretch>
                <a:fillRect l="-2144" t="0" r="-2144" b="0"/>
              </a:stretch>
            </a:blipFill>
          </p:spPr>
        </p:sp>
      </p:grpSp>
      <p:sp>
        <p:nvSpPr>
          <p:cNvPr name="Freeform 4" id="4"/>
          <p:cNvSpPr/>
          <p:nvPr/>
        </p:nvSpPr>
        <p:spPr>
          <a:xfrm flipH="false" flipV="false" rot="0">
            <a:off x="16942223" y="1074087"/>
            <a:ext cx="317077" cy="149891"/>
          </a:xfrm>
          <a:custGeom>
            <a:avLst/>
            <a:gdLst/>
            <a:ahLst/>
            <a:cxnLst/>
            <a:rect r="r" b="b" t="t" l="l"/>
            <a:pathLst>
              <a:path h="149891" w="317077">
                <a:moveTo>
                  <a:pt x="0" y="0"/>
                </a:moveTo>
                <a:lnTo>
                  <a:pt x="317077" y="0"/>
                </a:lnTo>
                <a:lnTo>
                  <a:pt x="317077" y="149891"/>
                </a:lnTo>
                <a:lnTo>
                  <a:pt x="0" y="1498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958996" y="371475"/>
            <a:ext cx="7483810" cy="1087755"/>
          </a:xfrm>
          <a:prstGeom prst="rect">
            <a:avLst/>
          </a:prstGeom>
        </p:spPr>
        <p:txBody>
          <a:bodyPr anchor="t" rtlCol="false" tIns="0" lIns="0" bIns="0" rIns="0">
            <a:spAutoFit/>
          </a:bodyPr>
          <a:lstStyle/>
          <a:p>
            <a:pPr algn="l">
              <a:lnSpc>
                <a:spcPts val="7680"/>
              </a:lnSpc>
            </a:pPr>
            <a:r>
              <a:rPr lang="en-US" sz="9600" spc="-960" b="true">
                <a:solidFill>
                  <a:srgbClr val="1E1E1E"/>
                </a:solidFill>
                <a:latin typeface="Montserrat Ultra-Bold"/>
                <a:ea typeface="Montserrat Ultra-Bold"/>
                <a:cs typeface="Montserrat Ultra-Bold"/>
                <a:sym typeface="Montserrat Ultra-Bold"/>
              </a:rPr>
              <a:t>desain sistem</a:t>
            </a:r>
          </a:p>
        </p:txBody>
      </p:sp>
      <p:sp>
        <p:nvSpPr>
          <p:cNvPr name="TextBox 6" id="6"/>
          <p:cNvSpPr txBox="true"/>
          <p:nvPr/>
        </p:nvSpPr>
        <p:spPr>
          <a:xfrm rot="0">
            <a:off x="1163960" y="1678305"/>
            <a:ext cx="8090225" cy="1246349"/>
          </a:xfrm>
          <a:prstGeom prst="rect">
            <a:avLst/>
          </a:prstGeom>
        </p:spPr>
        <p:txBody>
          <a:bodyPr anchor="t" rtlCol="false" tIns="0" lIns="0" bIns="0" rIns="0">
            <a:spAutoFit/>
          </a:bodyPr>
          <a:lstStyle/>
          <a:p>
            <a:pPr algn="l">
              <a:lnSpc>
                <a:spcPts val="4629"/>
              </a:lnSpc>
            </a:pPr>
            <a:r>
              <a:rPr lang="en-US" sz="5787" spc="-578" b="true">
                <a:solidFill>
                  <a:srgbClr val="1E1E1E"/>
                </a:solidFill>
                <a:latin typeface="Montserrat Ultra-Bold"/>
                <a:ea typeface="Montserrat Ultra-Bold"/>
                <a:cs typeface="Montserrat Ultra-Bold"/>
                <a:sym typeface="Montserrat Ultra-Bold"/>
              </a:rPr>
              <a:t>Flowchart Sistem</a:t>
            </a:r>
          </a:p>
          <a:p>
            <a:pPr algn="l">
              <a:lnSpc>
                <a:spcPts val="462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680967" y="747324"/>
            <a:ext cx="6622310" cy="848502"/>
          </a:xfrm>
          <a:prstGeom prst="rect">
            <a:avLst/>
          </a:prstGeom>
        </p:spPr>
        <p:txBody>
          <a:bodyPr anchor="t" rtlCol="false" tIns="0" lIns="0" bIns="0" rIns="0">
            <a:spAutoFit/>
          </a:bodyPr>
          <a:lstStyle/>
          <a:p>
            <a:pPr algn="l">
              <a:lnSpc>
                <a:spcPts val="5969"/>
              </a:lnSpc>
            </a:pPr>
            <a:r>
              <a:rPr lang="en-US" sz="7462" spc="-746" b="true">
                <a:solidFill>
                  <a:srgbClr val="1E1E1E"/>
                </a:solidFill>
                <a:latin typeface="Montserrat Ultra-Bold"/>
                <a:ea typeface="Montserrat Ultra-Bold"/>
                <a:cs typeface="Montserrat Ultra-Bold"/>
                <a:sym typeface="Montserrat Ultra-Bold"/>
              </a:rPr>
              <a:t>struktur menu</a:t>
            </a:r>
          </a:p>
        </p:txBody>
      </p:sp>
      <p:sp>
        <p:nvSpPr>
          <p:cNvPr name="Freeform 3" id="3"/>
          <p:cNvSpPr/>
          <p:nvPr/>
        </p:nvSpPr>
        <p:spPr>
          <a:xfrm flipH="false" flipV="false" rot="0">
            <a:off x="16942223" y="1074087"/>
            <a:ext cx="317077" cy="149891"/>
          </a:xfrm>
          <a:custGeom>
            <a:avLst/>
            <a:gdLst/>
            <a:ahLst/>
            <a:cxnLst/>
            <a:rect r="r" b="b" t="t" l="l"/>
            <a:pathLst>
              <a:path h="149891" w="317077">
                <a:moveTo>
                  <a:pt x="0" y="0"/>
                </a:moveTo>
                <a:lnTo>
                  <a:pt x="317077" y="0"/>
                </a:lnTo>
                <a:lnTo>
                  <a:pt x="317077" y="149891"/>
                </a:lnTo>
                <a:lnTo>
                  <a:pt x="0" y="1498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65432" y="2598000"/>
            <a:ext cx="4969749" cy="651891"/>
          </a:xfrm>
          <a:prstGeom prst="rect">
            <a:avLst/>
          </a:prstGeom>
        </p:spPr>
        <p:txBody>
          <a:bodyPr anchor="t" rtlCol="false" tIns="0" lIns="0" bIns="0" rIns="0">
            <a:spAutoFit/>
          </a:bodyPr>
          <a:lstStyle/>
          <a:p>
            <a:pPr algn="ctr">
              <a:lnSpc>
                <a:spcPts val="2466"/>
              </a:lnSpc>
            </a:pPr>
            <a:r>
              <a:rPr lang="en-US" b="true" sz="3082" spc="-308">
                <a:solidFill>
                  <a:srgbClr val="1E1E1E"/>
                </a:solidFill>
                <a:latin typeface="Montserrat Ultra-Bold"/>
                <a:ea typeface="Montserrat Ultra-Bold"/>
                <a:cs typeface="Montserrat Ultra-Bold"/>
                <a:sym typeface="Montserrat Ultra-Bold"/>
              </a:rPr>
              <a:t>Menu Manajemen Data &amp; Koleksi Buku</a:t>
            </a:r>
          </a:p>
        </p:txBody>
      </p:sp>
      <p:sp>
        <p:nvSpPr>
          <p:cNvPr name="TextBox 5" id="5"/>
          <p:cNvSpPr txBox="true"/>
          <p:nvPr/>
        </p:nvSpPr>
        <p:spPr>
          <a:xfrm rot="0">
            <a:off x="330713" y="3680337"/>
            <a:ext cx="5370908" cy="5895935"/>
          </a:xfrm>
          <a:prstGeom prst="rect">
            <a:avLst/>
          </a:prstGeom>
        </p:spPr>
        <p:txBody>
          <a:bodyPr anchor="t" rtlCol="false" tIns="0" lIns="0" bIns="0" rIns="0">
            <a:spAutoFit/>
          </a:bodyPr>
          <a:lstStyle/>
          <a:p>
            <a:pPr algn="l">
              <a:lnSpc>
                <a:spcPts val="5270"/>
              </a:lnSpc>
            </a:pPr>
            <a:r>
              <a:rPr lang="en-US" sz="2609" spc="-260">
                <a:solidFill>
                  <a:srgbClr val="1E1E1E"/>
                </a:solidFill>
                <a:latin typeface="Anonymous Pro"/>
                <a:ea typeface="Anonymous Pro"/>
                <a:cs typeface="Anonymous Pro"/>
                <a:sym typeface="Anonymous Pro"/>
              </a:rPr>
              <a:t> 1.Tampilkan Semua Buku &amp; Statistik</a:t>
            </a:r>
          </a:p>
          <a:p>
            <a:pPr algn="l">
              <a:lnSpc>
                <a:spcPts val="5270"/>
              </a:lnSpc>
            </a:pPr>
            <a:r>
              <a:rPr lang="en-US" sz="2609" spc="-260">
                <a:solidFill>
                  <a:srgbClr val="1E1E1E"/>
                </a:solidFill>
                <a:latin typeface="Anonymous Pro"/>
                <a:ea typeface="Anonymous Pro"/>
                <a:cs typeface="Anonymous Pro"/>
                <a:sym typeface="Anonymous Pro"/>
              </a:rPr>
              <a:t> 2.Cari Buku (Pencarian Pintar)</a:t>
            </a:r>
          </a:p>
          <a:p>
            <a:pPr algn="l">
              <a:lnSpc>
                <a:spcPts val="5270"/>
              </a:lnSpc>
            </a:pPr>
            <a:r>
              <a:rPr lang="en-US" sz="2609" spc="-260">
                <a:solidFill>
                  <a:srgbClr val="1E1E1E"/>
                </a:solidFill>
                <a:latin typeface="Anonymous Pro"/>
                <a:ea typeface="Anonymous Pro"/>
                <a:cs typeface="Anonymous Pro"/>
                <a:sym typeface="Anonymous Pro"/>
              </a:rPr>
              <a:t> 3.Urutan Semua Daftar Buku (A-Z)</a:t>
            </a:r>
          </a:p>
          <a:p>
            <a:pPr algn="l">
              <a:lnSpc>
                <a:spcPts val="5270"/>
              </a:lnSpc>
            </a:pPr>
            <a:r>
              <a:rPr lang="en-US" sz="2609" spc="-260">
                <a:solidFill>
                  <a:srgbClr val="1E1E1E"/>
                </a:solidFill>
                <a:latin typeface="Anonymous Pro"/>
                <a:ea typeface="Anonymous Pro"/>
                <a:cs typeface="Anonymous Pro"/>
                <a:sym typeface="Anonymous Pro"/>
              </a:rPr>
              <a:t> 4 Rekomendasi Buku Minggu Ini</a:t>
            </a:r>
          </a:p>
          <a:p>
            <a:pPr algn="l">
              <a:lnSpc>
                <a:spcPts val="5270"/>
              </a:lnSpc>
            </a:pPr>
            <a:r>
              <a:rPr lang="en-US" sz="2609" spc="-260">
                <a:solidFill>
                  <a:srgbClr val="1E1E1E"/>
                </a:solidFill>
                <a:latin typeface="Anonymous Pro"/>
                <a:ea typeface="Anonymous Pro"/>
                <a:cs typeface="Anonymous Pro"/>
                <a:sym typeface="Anonymous Pro"/>
              </a:rPr>
              <a:t> 5.menambah Buku Baru</a:t>
            </a:r>
          </a:p>
          <a:p>
            <a:pPr algn="l">
              <a:lnSpc>
                <a:spcPts val="5270"/>
              </a:lnSpc>
            </a:pPr>
            <a:r>
              <a:rPr lang="en-US" sz="2609" spc="-260">
                <a:solidFill>
                  <a:srgbClr val="1E1E1E"/>
                </a:solidFill>
                <a:latin typeface="Anonymous Pro"/>
                <a:ea typeface="Anonymous Pro"/>
                <a:cs typeface="Anonymous Pro"/>
                <a:sym typeface="Anonymous Pro"/>
              </a:rPr>
              <a:t> 6.menghapus Buku Lama</a:t>
            </a:r>
          </a:p>
          <a:p>
            <a:pPr algn="l">
              <a:lnSpc>
                <a:spcPts val="5270"/>
              </a:lnSpc>
            </a:pPr>
            <a:r>
              <a:rPr lang="en-US" sz="2609">
                <a:solidFill>
                  <a:srgbClr val="1E1E1E"/>
                </a:solidFill>
                <a:latin typeface="Anonymous Pro"/>
                <a:ea typeface="Anonymous Pro"/>
                <a:cs typeface="Anonymous Pro"/>
                <a:sym typeface="Anonymous Pro"/>
              </a:rPr>
              <a:t> 7.Edit Informasi Buku</a:t>
            </a:r>
          </a:p>
          <a:p>
            <a:pPr algn="l">
              <a:lnSpc>
                <a:spcPts val="5270"/>
              </a:lnSpc>
            </a:pPr>
            <a:r>
              <a:rPr lang="en-US" sz="2609">
                <a:solidFill>
                  <a:srgbClr val="1E1E1E"/>
                </a:solidFill>
                <a:latin typeface="Anonymous Pro"/>
                <a:ea typeface="Anonymous Pro"/>
                <a:cs typeface="Anonymous Pro"/>
                <a:sym typeface="Anonymous Pro"/>
              </a:rPr>
              <a:t> 8.Kembali ke Menu Utama</a:t>
            </a:r>
          </a:p>
          <a:p>
            <a:pPr algn="l">
              <a:lnSpc>
                <a:spcPts val="4592"/>
              </a:lnSpc>
            </a:pPr>
          </a:p>
        </p:txBody>
      </p:sp>
      <p:sp>
        <p:nvSpPr>
          <p:cNvPr name="TextBox 6" id="6"/>
          <p:cNvSpPr txBox="true"/>
          <p:nvPr/>
        </p:nvSpPr>
        <p:spPr>
          <a:xfrm rot="0">
            <a:off x="5701621" y="2598000"/>
            <a:ext cx="4303260" cy="956691"/>
          </a:xfrm>
          <a:prstGeom prst="rect">
            <a:avLst/>
          </a:prstGeom>
        </p:spPr>
        <p:txBody>
          <a:bodyPr anchor="t" rtlCol="false" tIns="0" lIns="0" bIns="0" rIns="0">
            <a:spAutoFit/>
          </a:bodyPr>
          <a:lstStyle/>
          <a:p>
            <a:pPr algn="ctr">
              <a:lnSpc>
                <a:spcPts val="2466"/>
              </a:lnSpc>
            </a:pPr>
            <a:r>
              <a:rPr lang="en-US" b="true" sz="3082" spc="-308">
                <a:solidFill>
                  <a:srgbClr val="1E1E1E"/>
                </a:solidFill>
                <a:latin typeface="Montserrat Ultra-Bold"/>
                <a:ea typeface="Montserrat Ultra-Bold"/>
                <a:cs typeface="Montserrat Ultra-Bold"/>
                <a:sym typeface="Montserrat Ultra-Bold"/>
              </a:rPr>
              <a:t> Menu Transaksi Peminjaman</a:t>
            </a:r>
          </a:p>
          <a:p>
            <a:pPr algn="ctr">
              <a:lnSpc>
                <a:spcPts val="2466"/>
              </a:lnSpc>
            </a:pPr>
          </a:p>
        </p:txBody>
      </p:sp>
      <p:sp>
        <p:nvSpPr>
          <p:cNvPr name="TextBox 7" id="7"/>
          <p:cNvSpPr txBox="true"/>
          <p:nvPr/>
        </p:nvSpPr>
        <p:spPr>
          <a:xfrm rot="0">
            <a:off x="10909109" y="2598000"/>
            <a:ext cx="3897571" cy="956691"/>
          </a:xfrm>
          <a:prstGeom prst="rect">
            <a:avLst/>
          </a:prstGeom>
        </p:spPr>
        <p:txBody>
          <a:bodyPr anchor="t" rtlCol="false" tIns="0" lIns="0" bIns="0" rIns="0">
            <a:spAutoFit/>
          </a:bodyPr>
          <a:lstStyle/>
          <a:p>
            <a:pPr algn="ctr">
              <a:lnSpc>
                <a:spcPts val="2466"/>
              </a:lnSpc>
            </a:pPr>
            <a:r>
              <a:rPr lang="en-US" b="true" sz="3082" spc="-308">
                <a:solidFill>
                  <a:srgbClr val="1E1E1E"/>
                </a:solidFill>
                <a:latin typeface="Montserrat Ultra-Bold"/>
                <a:ea typeface="Montserrat Ultra-Bold"/>
                <a:cs typeface="Montserrat Ultra-Bold"/>
                <a:sym typeface="Montserrat Ultra-Bold"/>
              </a:rPr>
              <a:t> Menu Laporan Riwayat Transaksi</a:t>
            </a:r>
          </a:p>
          <a:p>
            <a:pPr algn="ctr">
              <a:lnSpc>
                <a:spcPts val="2466"/>
              </a:lnSpc>
            </a:pPr>
          </a:p>
        </p:txBody>
      </p:sp>
      <p:sp>
        <p:nvSpPr>
          <p:cNvPr name="TextBox 8" id="8"/>
          <p:cNvSpPr txBox="true"/>
          <p:nvPr/>
        </p:nvSpPr>
        <p:spPr>
          <a:xfrm rot="0">
            <a:off x="14806680" y="2750400"/>
            <a:ext cx="3897571" cy="651891"/>
          </a:xfrm>
          <a:prstGeom prst="rect">
            <a:avLst/>
          </a:prstGeom>
        </p:spPr>
        <p:txBody>
          <a:bodyPr anchor="t" rtlCol="false" tIns="0" lIns="0" bIns="0" rIns="0">
            <a:spAutoFit/>
          </a:bodyPr>
          <a:lstStyle/>
          <a:p>
            <a:pPr algn="ctr">
              <a:lnSpc>
                <a:spcPts val="2466"/>
              </a:lnSpc>
            </a:pPr>
            <a:r>
              <a:rPr lang="en-US" b="true" sz="3082" spc="-308">
                <a:solidFill>
                  <a:srgbClr val="1E1E1E"/>
                </a:solidFill>
                <a:latin typeface="Montserrat Ultra-Bold"/>
                <a:ea typeface="Montserrat Ultra-Bold"/>
                <a:cs typeface="Montserrat Ultra-Bold"/>
                <a:sym typeface="Montserrat Ultra-Bold"/>
              </a:rPr>
              <a:t> Keluar Sistem</a:t>
            </a:r>
          </a:p>
          <a:p>
            <a:pPr algn="ctr">
              <a:lnSpc>
                <a:spcPts val="2466"/>
              </a:lnSpc>
            </a:pPr>
          </a:p>
        </p:txBody>
      </p:sp>
      <p:sp>
        <p:nvSpPr>
          <p:cNvPr name="TextBox 9" id="9"/>
          <p:cNvSpPr txBox="true"/>
          <p:nvPr/>
        </p:nvSpPr>
        <p:spPr>
          <a:xfrm rot="0">
            <a:off x="6037749" y="3466870"/>
            <a:ext cx="4537985" cy="2562185"/>
          </a:xfrm>
          <a:prstGeom prst="rect">
            <a:avLst/>
          </a:prstGeom>
        </p:spPr>
        <p:txBody>
          <a:bodyPr anchor="t" rtlCol="false" tIns="0" lIns="0" bIns="0" rIns="0">
            <a:spAutoFit/>
          </a:bodyPr>
          <a:lstStyle/>
          <a:p>
            <a:pPr algn="l">
              <a:lnSpc>
                <a:spcPts val="5270"/>
              </a:lnSpc>
            </a:pPr>
            <a:r>
              <a:rPr lang="en-US" sz="2609" spc="-260">
                <a:solidFill>
                  <a:srgbClr val="1E1E1E"/>
                </a:solidFill>
                <a:latin typeface="Anonymous Pro"/>
                <a:ea typeface="Anonymous Pro"/>
                <a:cs typeface="Anonymous Pro"/>
                <a:sym typeface="Anonymous Pro"/>
              </a:rPr>
              <a:t> 1.Pinjam Buku</a:t>
            </a:r>
          </a:p>
          <a:p>
            <a:pPr algn="l">
              <a:lnSpc>
                <a:spcPts val="5270"/>
              </a:lnSpc>
            </a:pPr>
            <a:r>
              <a:rPr lang="en-US" sz="2609" spc="-260">
                <a:solidFill>
                  <a:srgbClr val="1E1E1E"/>
                </a:solidFill>
                <a:latin typeface="Anonymous Pro"/>
                <a:ea typeface="Anonymous Pro"/>
                <a:cs typeface="Anonymous Pro"/>
                <a:sym typeface="Anonymous Pro"/>
              </a:rPr>
              <a:t> 2.Kembalikan Buku (Cek Denda)</a:t>
            </a:r>
          </a:p>
          <a:p>
            <a:pPr algn="l">
              <a:lnSpc>
                <a:spcPts val="5270"/>
              </a:lnSpc>
            </a:pPr>
            <a:r>
              <a:rPr lang="en-US" sz="2609" spc="-260">
                <a:solidFill>
                  <a:srgbClr val="1E1E1E"/>
                </a:solidFill>
                <a:latin typeface="Anonymous Pro"/>
                <a:ea typeface="Anonymous Pro"/>
                <a:cs typeface="Anonymous Pro"/>
                <a:sym typeface="Anonymous Pro"/>
              </a:rPr>
              <a:t> 3</a:t>
            </a:r>
            <a:r>
              <a:rPr lang="en-US" sz="2609" spc="-260">
                <a:solidFill>
                  <a:srgbClr val="1E1E1E"/>
                </a:solidFill>
                <a:latin typeface="Anonymous Pro"/>
                <a:ea typeface="Anonymous Pro"/>
                <a:cs typeface="Anonymous Pro"/>
                <a:sym typeface="Anonymous Pro"/>
              </a:rPr>
              <a:t>.Kembali ke Menu Utama</a:t>
            </a:r>
          </a:p>
          <a:p>
            <a:pPr algn="l">
              <a:lnSpc>
                <a:spcPts val="4592"/>
              </a:lnSpc>
            </a:pPr>
          </a:p>
        </p:txBody>
      </p:sp>
      <p:sp>
        <p:nvSpPr>
          <p:cNvPr name="TextBox 10" id="10"/>
          <p:cNvSpPr txBox="true"/>
          <p:nvPr/>
        </p:nvSpPr>
        <p:spPr>
          <a:xfrm rot="0">
            <a:off x="10909109" y="3466870"/>
            <a:ext cx="4537985" cy="2562185"/>
          </a:xfrm>
          <a:prstGeom prst="rect">
            <a:avLst/>
          </a:prstGeom>
        </p:spPr>
        <p:txBody>
          <a:bodyPr anchor="t" rtlCol="false" tIns="0" lIns="0" bIns="0" rIns="0">
            <a:spAutoFit/>
          </a:bodyPr>
          <a:lstStyle/>
          <a:p>
            <a:pPr algn="l">
              <a:lnSpc>
                <a:spcPts val="5270"/>
              </a:lnSpc>
            </a:pPr>
            <a:r>
              <a:rPr lang="en-US" sz="2609" spc="-260">
                <a:solidFill>
                  <a:srgbClr val="1E1E1E"/>
                </a:solidFill>
                <a:latin typeface="Anonymous Pro"/>
                <a:ea typeface="Anonymous Pro"/>
                <a:cs typeface="Anonymous Pro"/>
                <a:sym typeface="Anonymous Pro"/>
              </a:rPr>
              <a:t> 1.Lihat Semua Riwayat Transaksi</a:t>
            </a:r>
          </a:p>
          <a:p>
            <a:pPr algn="l">
              <a:lnSpc>
                <a:spcPts val="5270"/>
              </a:lnSpc>
            </a:pPr>
            <a:r>
              <a:rPr lang="en-US" sz="2609" spc="-260">
                <a:solidFill>
                  <a:srgbClr val="1E1E1E"/>
                </a:solidFill>
                <a:latin typeface="Anonymous Pro"/>
                <a:ea typeface="Anonymous Pro"/>
                <a:cs typeface="Anonymous Pro"/>
                <a:sym typeface="Anonymous Pro"/>
              </a:rPr>
              <a:t>2.Hapus Semua Catatan Riwayat</a:t>
            </a:r>
          </a:p>
          <a:p>
            <a:pPr algn="l">
              <a:lnSpc>
                <a:spcPts val="4592"/>
              </a:lnSpc>
            </a:pPr>
            <a:r>
              <a:rPr lang="en-US" sz="2609">
                <a:solidFill>
                  <a:srgbClr val="1E1E1E"/>
                </a:solidFill>
                <a:latin typeface="Anonymous Pro"/>
                <a:ea typeface="Anonymous Pro"/>
                <a:cs typeface="Anonymous Pro"/>
                <a:sym typeface="Anonymous Pro"/>
              </a:rPr>
              <a:t>3.</a:t>
            </a:r>
            <a:r>
              <a:rPr lang="en-US" sz="2609">
                <a:solidFill>
                  <a:srgbClr val="1E1E1E"/>
                </a:solidFill>
                <a:latin typeface="Anonymous Pro"/>
                <a:ea typeface="Anonymous Pro"/>
                <a:cs typeface="Anonymous Pro"/>
                <a:sym typeface="Anonymous Pro"/>
              </a:rPr>
              <a:t>Kembali ke Menu Utama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342082" y="936389"/>
            <a:ext cx="17129147" cy="1546232"/>
          </a:xfrm>
          <a:prstGeom prst="rect">
            <a:avLst/>
          </a:prstGeom>
        </p:spPr>
        <p:txBody>
          <a:bodyPr anchor="t" rtlCol="false" tIns="0" lIns="0" bIns="0" rIns="0">
            <a:spAutoFit/>
          </a:bodyPr>
          <a:lstStyle/>
          <a:p>
            <a:pPr algn="l">
              <a:lnSpc>
                <a:spcPts val="5610"/>
              </a:lnSpc>
            </a:pPr>
            <a:r>
              <a:rPr lang="en-US" sz="5100" spc="-510" b="true">
                <a:solidFill>
                  <a:srgbClr val="1E1E1E"/>
                </a:solidFill>
                <a:latin typeface="Montserrat Ultra-Bold"/>
                <a:ea typeface="Montserrat Ultra-Bold"/>
                <a:cs typeface="Montserrat Ultra-Bold"/>
                <a:sym typeface="Montserrat Ultra-Bold"/>
              </a:rPr>
              <a:t>Struktur Data dan Alasan Pemilihan </a:t>
            </a:r>
          </a:p>
          <a:p>
            <a:pPr algn="l">
              <a:lnSpc>
                <a:spcPts val="6490"/>
              </a:lnSpc>
            </a:pPr>
          </a:p>
        </p:txBody>
      </p:sp>
      <p:sp>
        <p:nvSpPr>
          <p:cNvPr name="TextBox 3" id="3"/>
          <p:cNvSpPr txBox="true"/>
          <p:nvPr/>
        </p:nvSpPr>
        <p:spPr>
          <a:xfrm rot="0">
            <a:off x="342082" y="3437902"/>
            <a:ext cx="8145359" cy="1124413"/>
          </a:xfrm>
          <a:prstGeom prst="rect">
            <a:avLst/>
          </a:prstGeom>
        </p:spPr>
        <p:txBody>
          <a:bodyPr anchor="t" rtlCol="false" tIns="0" lIns="0" bIns="0" rIns="0">
            <a:spAutoFit/>
          </a:bodyPr>
          <a:lstStyle/>
          <a:p>
            <a:pPr algn="just">
              <a:lnSpc>
                <a:spcPts val="2925"/>
              </a:lnSpc>
            </a:pPr>
            <a:r>
              <a:rPr lang="en-US" sz="2378" spc="-47">
                <a:solidFill>
                  <a:srgbClr val="1E1E1E"/>
                </a:solidFill>
                <a:latin typeface="Anonymous Pro"/>
                <a:ea typeface="Anonymous Pro"/>
                <a:cs typeface="Anonymous Pro"/>
                <a:sym typeface="Anonymous Pro"/>
              </a:rPr>
              <a:t> Digunakan untuk mengelompokkan data buku (judul, penulis, tahun, dll.) dalam satu kesatuan sehingga data lebih terorganisir dan mudah dikelola.</a:t>
            </a:r>
          </a:p>
        </p:txBody>
      </p:sp>
      <p:sp>
        <p:nvSpPr>
          <p:cNvPr name="Freeform 4" id="4"/>
          <p:cNvSpPr/>
          <p:nvPr/>
        </p:nvSpPr>
        <p:spPr>
          <a:xfrm flipH="false" flipV="false" rot="0">
            <a:off x="16942223" y="1074087"/>
            <a:ext cx="317077" cy="149891"/>
          </a:xfrm>
          <a:custGeom>
            <a:avLst/>
            <a:gdLst/>
            <a:ahLst/>
            <a:cxnLst/>
            <a:rect r="r" b="b" t="t" l="l"/>
            <a:pathLst>
              <a:path h="149891" w="317077">
                <a:moveTo>
                  <a:pt x="0" y="0"/>
                </a:moveTo>
                <a:lnTo>
                  <a:pt x="317077" y="0"/>
                </a:lnTo>
                <a:lnTo>
                  <a:pt x="317077" y="149891"/>
                </a:lnTo>
                <a:lnTo>
                  <a:pt x="0" y="1498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342082" y="2232867"/>
            <a:ext cx="10108825" cy="1590783"/>
          </a:xfrm>
          <a:prstGeom prst="rect">
            <a:avLst/>
          </a:prstGeom>
        </p:spPr>
        <p:txBody>
          <a:bodyPr anchor="t" rtlCol="false" tIns="0" lIns="0" bIns="0" rIns="0">
            <a:spAutoFit/>
          </a:bodyPr>
          <a:lstStyle/>
          <a:p>
            <a:pPr algn="l">
              <a:lnSpc>
                <a:spcPts val="4134"/>
              </a:lnSpc>
            </a:pPr>
            <a:r>
              <a:rPr lang="en-US" sz="3758" spc="-375">
                <a:solidFill>
                  <a:srgbClr val="1E1E1E"/>
                </a:solidFill>
                <a:latin typeface="Lovelo"/>
                <a:ea typeface="Lovelo"/>
                <a:cs typeface="Lovelo"/>
                <a:sym typeface="Lovelo"/>
              </a:rPr>
              <a:t> </a:t>
            </a:r>
          </a:p>
          <a:p>
            <a:pPr algn="l">
              <a:lnSpc>
                <a:spcPts val="4134"/>
              </a:lnSpc>
            </a:pPr>
            <a:r>
              <a:rPr lang="en-US" sz="3758" spc="-375">
                <a:solidFill>
                  <a:srgbClr val="1E1E1E"/>
                </a:solidFill>
                <a:latin typeface="Lovelo"/>
                <a:ea typeface="Lovelo"/>
                <a:cs typeface="Lovelo"/>
                <a:sym typeface="Lovelo"/>
              </a:rPr>
              <a:t>Struct</a:t>
            </a:r>
          </a:p>
          <a:p>
            <a:pPr algn="l">
              <a:lnSpc>
                <a:spcPts val="4134"/>
              </a:lnSpc>
            </a:pPr>
          </a:p>
        </p:txBody>
      </p:sp>
      <p:sp>
        <p:nvSpPr>
          <p:cNvPr name="TextBox 6" id="6"/>
          <p:cNvSpPr txBox="true"/>
          <p:nvPr/>
        </p:nvSpPr>
        <p:spPr>
          <a:xfrm rot="0">
            <a:off x="9522775" y="2749321"/>
            <a:ext cx="10108825" cy="1066908"/>
          </a:xfrm>
          <a:prstGeom prst="rect">
            <a:avLst/>
          </a:prstGeom>
        </p:spPr>
        <p:txBody>
          <a:bodyPr anchor="t" rtlCol="false" tIns="0" lIns="0" bIns="0" rIns="0">
            <a:spAutoFit/>
          </a:bodyPr>
          <a:lstStyle/>
          <a:p>
            <a:pPr algn="l">
              <a:lnSpc>
                <a:spcPts val="4134"/>
              </a:lnSpc>
            </a:pPr>
            <a:r>
              <a:rPr lang="en-US" sz="3758" spc="-375">
                <a:solidFill>
                  <a:srgbClr val="1E1E1E"/>
                </a:solidFill>
                <a:latin typeface="Lovelo"/>
                <a:ea typeface="Lovelo"/>
                <a:cs typeface="Lovelo"/>
                <a:sym typeface="Lovelo"/>
              </a:rPr>
              <a:t>Array</a:t>
            </a:r>
          </a:p>
          <a:p>
            <a:pPr algn="l">
              <a:lnSpc>
                <a:spcPts val="4134"/>
              </a:lnSpc>
            </a:pPr>
          </a:p>
        </p:txBody>
      </p:sp>
      <p:sp>
        <p:nvSpPr>
          <p:cNvPr name="TextBox 7" id="7"/>
          <p:cNvSpPr txBox="true"/>
          <p:nvPr/>
        </p:nvSpPr>
        <p:spPr>
          <a:xfrm rot="0">
            <a:off x="9522775" y="3437902"/>
            <a:ext cx="8145359" cy="1124413"/>
          </a:xfrm>
          <a:prstGeom prst="rect">
            <a:avLst/>
          </a:prstGeom>
        </p:spPr>
        <p:txBody>
          <a:bodyPr anchor="t" rtlCol="false" tIns="0" lIns="0" bIns="0" rIns="0">
            <a:spAutoFit/>
          </a:bodyPr>
          <a:lstStyle/>
          <a:p>
            <a:pPr algn="just">
              <a:lnSpc>
                <a:spcPts val="2925"/>
              </a:lnSpc>
            </a:pPr>
            <a:r>
              <a:rPr lang="en-US" sz="2378" spc="-47">
                <a:solidFill>
                  <a:srgbClr val="1E1E1E"/>
                </a:solidFill>
                <a:latin typeface="Anonymous Pro"/>
                <a:ea typeface="Anonymous Pro"/>
                <a:cs typeface="Anonymous Pro"/>
                <a:sym typeface="Anonymous Pro"/>
              </a:rPr>
              <a:t>Digunakan untuk menyimpan banyak data buku dengan struktur yang sama secara berurutan dan mudah diakses.</a:t>
            </a:r>
          </a:p>
        </p:txBody>
      </p:sp>
      <p:sp>
        <p:nvSpPr>
          <p:cNvPr name="TextBox 8" id="8"/>
          <p:cNvSpPr txBox="true"/>
          <p:nvPr/>
        </p:nvSpPr>
        <p:spPr>
          <a:xfrm rot="0">
            <a:off x="342082" y="5402934"/>
            <a:ext cx="10108825" cy="1066908"/>
          </a:xfrm>
          <a:prstGeom prst="rect">
            <a:avLst/>
          </a:prstGeom>
        </p:spPr>
        <p:txBody>
          <a:bodyPr anchor="t" rtlCol="false" tIns="0" lIns="0" bIns="0" rIns="0">
            <a:spAutoFit/>
          </a:bodyPr>
          <a:lstStyle/>
          <a:p>
            <a:pPr algn="l">
              <a:lnSpc>
                <a:spcPts val="4134"/>
              </a:lnSpc>
            </a:pPr>
            <a:r>
              <a:rPr lang="en-US" sz="3758" spc="-375">
                <a:solidFill>
                  <a:srgbClr val="1E1E1E"/>
                </a:solidFill>
                <a:latin typeface="Lovelo"/>
                <a:ea typeface="Lovelo"/>
                <a:cs typeface="Lovelo"/>
                <a:sym typeface="Lovelo"/>
              </a:rPr>
              <a:t>Sequential </a:t>
            </a:r>
            <a:r>
              <a:rPr lang="en-US" sz="3758" spc="-375">
                <a:solidFill>
                  <a:srgbClr val="1E1E1E"/>
                </a:solidFill>
                <a:latin typeface="Lovelo"/>
                <a:ea typeface="Lovelo"/>
                <a:cs typeface="Lovelo"/>
                <a:sym typeface="Lovelo"/>
              </a:rPr>
              <a:t>Sort</a:t>
            </a:r>
          </a:p>
          <a:p>
            <a:pPr algn="l">
              <a:lnSpc>
                <a:spcPts val="4134"/>
              </a:lnSpc>
            </a:pPr>
          </a:p>
        </p:txBody>
      </p:sp>
      <p:sp>
        <p:nvSpPr>
          <p:cNvPr name="TextBox 9" id="9"/>
          <p:cNvSpPr txBox="true"/>
          <p:nvPr/>
        </p:nvSpPr>
        <p:spPr>
          <a:xfrm rot="0">
            <a:off x="342082" y="6056033"/>
            <a:ext cx="8145359" cy="1124413"/>
          </a:xfrm>
          <a:prstGeom prst="rect">
            <a:avLst/>
          </a:prstGeom>
        </p:spPr>
        <p:txBody>
          <a:bodyPr anchor="t" rtlCol="false" tIns="0" lIns="0" bIns="0" rIns="0">
            <a:spAutoFit/>
          </a:bodyPr>
          <a:lstStyle/>
          <a:p>
            <a:pPr algn="just">
              <a:lnSpc>
                <a:spcPts val="2925"/>
              </a:lnSpc>
            </a:pPr>
            <a:r>
              <a:rPr lang="en-US" sz="2378" spc="-47">
                <a:solidFill>
                  <a:srgbClr val="1E1E1E"/>
                </a:solidFill>
                <a:latin typeface="Anonymous Pro"/>
                <a:ea typeface="Anonymous Pro"/>
                <a:cs typeface="Anonymous Pro"/>
                <a:sym typeface="Anonymous Pro"/>
              </a:rPr>
              <a:t>Dipilih karena sederhana dan cocok untuk jumlah data yang tidak terlalu banyak, sehingga pencarian tetap efektif.</a:t>
            </a:r>
          </a:p>
        </p:txBody>
      </p:sp>
      <p:sp>
        <p:nvSpPr>
          <p:cNvPr name="TextBox 10" id="10"/>
          <p:cNvSpPr txBox="true"/>
          <p:nvPr/>
        </p:nvSpPr>
        <p:spPr>
          <a:xfrm rot="0">
            <a:off x="9522775" y="5341572"/>
            <a:ext cx="10108825" cy="1066908"/>
          </a:xfrm>
          <a:prstGeom prst="rect">
            <a:avLst/>
          </a:prstGeom>
        </p:spPr>
        <p:txBody>
          <a:bodyPr anchor="t" rtlCol="false" tIns="0" lIns="0" bIns="0" rIns="0">
            <a:spAutoFit/>
          </a:bodyPr>
          <a:lstStyle/>
          <a:p>
            <a:pPr algn="l">
              <a:lnSpc>
                <a:spcPts val="4134"/>
              </a:lnSpc>
            </a:pPr>
            <a:r>
              <a:rPr lang="en-US" sz="3758" spc="-375">
                <a:solidFill>
                  <a:srgbClr val="1E1E1E"/>
                </a:solidFill>
                <a:latin typeface="Lovelo"/>
                <a:ea typeface="Lovelo"/>
                <a:cs typeface="Lovelo"/>
                <a:sym typeface="Lovelo"/>
              </a:rPr>
              <a:t>Bubble Sort</a:t>
            </a:r>
          </a:p>
          <a:p>
            <a:pPr algn="l">
              <a:lnSpc>
                <a:spcPts val="4134"/>
              </a:lnSpc>
            </a:pPr>
          </a:p>
        </p:txBody>
      </p:sp>
      <p:sp>
        <p:nvSpPr>
          <p:cNvPr name="TextBox 11" id="11"/>
          <p:cNvSpPr txBox="true"/>
          <p:nvPr/>
        </p:nvSpPr>
        <p:spPr>
          <a:xfrm rot="0">
            <a:off x="9522775" y="6056033"/>
            <a:ext cx="8145359" cy="1124413"/>
          </a:xfrm>
          <a:prstGeom prst="rect">
            <a:avLst/>
          </a:prstGeom>
        </p:spPr>
        <p:txBody>
          <a:bodyPr anchor="t" rtlCol="false" tIns="0" lIns="0" bIns="0" rIns="0">
            <a:spAutoFit/>
          </a:bodyPr>
          <a:lstStyle/>
          <a:p>
            <a:pPr algn="just">
              <a:lnSpc>
                <a:spcPts val="2925"/>
              </a:lnSpc>
            </a:pPr>
            <a:r>
              <a:rPr lang="en-US" sz="2378" spc="-47">
                <a:solidFill>
                  <a:srgbClr val="1E1E1E"/>
                </a:solidFill>
                <a:latin typeface="Anonymous Pro"/>
                <a:ea typeface="Anonymous Pro"/>
                <a:cs typeface="Anonymous Pro"/>
                <a:sym typeface="Anonymous Pro"/>
              </a:rPr>
              <a:t>Digunakan untuk mengurutkan data buku berdasarkan judul karena mudah dipahami dan diimplementasikan.</a:t>
            </a:r>
          </a:p>
          <a:p>
            <a:pPr algn="just">
              <a:lnSpc>
                <a:spcPts val="2925"/>
              </a:lnSpc>
            </a:pPr>
          </a:p>
        </p:txBody>
      </p:sp>
      <p:sp>
        <p:nvSpPr>
          <p:cNvPr name="TextBox 12" id="12"/>
          <p:cNvSpPr txBox="true"/>
          <p:nvPr/>
        </p:nvSpPr>
        <p:spPr>
          <a:xfrm rot="0">
            <a:off x="342082" y="7926402"/>
            <a:ext cx="10108825" cy="543033"/>
          </a:xfrm>
          <a:prstGeom prst="rect">
            <a:avLst/>
          </a:prstGeom>
        </p:spPr>
        <p:txBody>
          <a:bodyPr anchor="t" rtlCol="false" tIns="0" lIns="0" bIns="0" rIns="0">
            <a:spAutoFit/>
          </a:bodyPr>
          <a:lstStyle/>
          <a:p>
            <a:pPr algn="l">
              <a:lnSpc>
                <a:spcPts val="4134"/>
              </a:lnSpc>
            </a:pPr>
            <a:r>
              <a:rPr lang="en-US" sz="3758" spc="-375">
                <a:solidFill>
                  <a:srgbClr val="1E1E1E"/>
                </a:solidFill>
                <a:latin typeface="Lovelo"/>
                <a:ea typeface="Lovelo"/>
                <a:cs typeface="Lovelo"/>
                <a:sym typeface="Lovelo"/>
              </a:rPr>
              <a:t>Percabangan (if-else/switch) </a:t>
            </a:r>
          </a:p>
        </p:txBody>
      </p:sp>
      <p:sp>
        <p:nvSpPr>
          <p:cNvPr name="TextBox 13" id="13"/>
          <p:cNvSpPr txBox="true"/>
          <p:nvPr/>
        </p:nvSpPr>
        <p:spPr>
          <a:xfrm rot="0">
            <a:off x="9522775" y="7926402"/>
            <a:ext cx="10108825" cy="543033"/>
          </a:xfrm>
          <a:prstGeom prst="rect">
            <a:avLst/>
          </a:prstGeom>
        </p:spPr>
        <p:txBody>
          <a:bodyPr anchor="t" rtlCol="false" tIns="0" lIns="0" bIns="0" rIns="0">
            <a:spAutoFit/>
          </a:bodyPr>
          <a:lstStyle/>
          <a:p>
            <a:pPr algn="l">
              <a:lnSpc>
                <a:spcPts val="4134"/>
              </a:lnSpc>
            </a:pPr>
            <a:r>
              <a:rPr lang="en-US" sz="3758" spc="-375">
                <a:solidFill>
                  <a:srgbClr val="1E1E1E"/>
                </a:solidFill>
                <a:latin typeface="Lovelo"/>
                <a:ea typeface="Lovelo"/>
                <a:cs typeface="Lovelo"/>
                <a:sym typeface="Lovelo"/>
              </a:rPr>
              <a:t>Perulangan (for/while) </a:t>
            </a:r>
          </a:p>
        </p:txBody>
      </p:sp>
      <p:sp>
        <p:nvSpPr>
          <p:cNvPr name="TextBox 14" id="14"/>
          <p:cNvSpPr txBox="true"/>
          <p:nvPr/>
        </p:nvSpPr>
        <p:spPr>
          <a:xfrm rot="0">
            <a:off x="342082" y="8686569"/>
            <a:ext cx="8145359" cy="1124413"/>
          </a:xfrm>
          <a:prstGeom prst="rect">
            <a:avLst/>
          </a:prstGeom>
        </p:spPr>
        <p:txBody>
          <a:bodyPr anchor="t" rtlCol="false" tIns="0" lIns="0" bIns="0" rIns="0">
            <a:spAutoFit/>
          </a:bodyPr>
          <a:lstStyle/>
          <a:p>
            <a:pPr algn="just">
              <a:lnSpc>
                <a:spcPts val="2925"/>
              </a:lnSpc>
            </a:pPr>
            <a:r>
              <a:rPr lang="en-US" sz="2378" spc="-47">
                <a:solidFill>
                  <a:srgbClr val="1E1E1E"/>
                </a:solidFill>
                <a:latin typeface="Anonymous Pro"/>
                <a:ea typeface="Anonymous Pro"/>
                <a:cs typeface="Anonymous Pro"/>
                <a:sym typeface="Anonymous Pro"/>
              </a:rPr>
              <a:t>Digunakan untuk menentukan tindakan berdasarkan kondisi tertentu, seperti memilih menu atau memeriksa data.</a:t>
            </a:r>
          </a:p>
        </p:txBody>
      </p:sp>
      <p:sp>
        <p:nvSpPr>
          <p:cNvPr name="TextBox 15" id="15"/>
          <p:cNvSpPr txBox="true"/>
          <p:nvPr/>
        </p:nvSpPr>
        <p:spPr>
          <a:xfrm rot="0">
            <a:off x="9522775" y="8631360"/>
            <a:ext cx="8145359" cy="1124413"/>
          </a:xfrm>
          <a:prstGeom prst="rect">
            <a:avLst/>
          </a:prstGeom>
        </p:spPr>
        <p:txBody>
          <a:bodyPr anchor="t" rtlCol="false" tIns="0" lIns="0" bIns="0" rIns="0">
            <a:spAutoFit/>
          </a:bodyPr>
          <a:lstStyle/>
          <a:p>
            <a:pPr algn="just">
              <a:lnSpc>
                <a:spcPts val="2925"/>
              </a:lnSpc>
            </a:pPr>
            <a:r>
              <a:rPr lang="en-US" sz="2378" spc="-47">
                <a:solidFill>
                  <a:srgbClr val="1E1E1E"/>
                </a:solidFill>
                <a:latin typeface="Anonymous Pro"/>
                <a:ea typeface="Anonymous Pro"/>
                <a:cs typeface="Anonymous Pro"/>
                <a:sym typeface="Anonymous Pro"/>
              </a:rPr>
              <a:t>Digunakan untuk menjalankan proses yang berulang, seperti menampilkan, mencari, dan mengurutkan data buku tanpa menulis kode yang sama berulang kali.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8E7E7"/>
        </a:solidFill>
      </p:bgPr>
    </p:bg>
    <p:spTree>
      <p:nvGrpSpPr>
        <p:cNvPr id="1" name=""/>
        <p:cNvGrpSpPr/>
        <p:nvPr/>
      </p:nvGrpSpPr>
      <p:grpSpPr>
        <a:xfrm>
          <a:off x="0" y="0"/>
          <a:ext cx="0" cy="0"/>
          <a:chOff x="0" y="0"/>
          <a:chExt cx="0" cy="0"/>
        </a:xfrm>
      </p:grpSpPr>
      <p:sp>
        <p:nvSpPr>
          <p:cNvPr name="TextBox 2" id="2"/>
          <p:cNvSpPr txBox="true"/>
          <p:nvPr/>
        </p:nvSpPr>
        <p:spPr>
          <a:xfrm rot="0">
            <a:off x="4221184" y="4150328"/>
            <a:ext cx="9987441" cy="1992550"/>
          </a:xfrm>
          <a:prstGeom prst="rect">
            <a:avLst/>
          </a:prstGeom>
        </p:spPr>
        <p:txBody>
          <a:bodyPr anchor="t" rtlCol="false" tIns="0" lIns="0" bIns="0" rIns="0">
            <a:spAutoFit/>
          </a:bodyPr>
          <a:lstStyle/>
          <a:p>
            <a:pPr algn="ctr">
              <a:lnSpc>
                <a:spcPts val="13912"/>
              </a:lnSpc>
            </a:pPr>
            <a:r>
              <a:rPr lang="en-US" b="true" sz="17390" spc="-1739">
                <a:solidFill>
                  <a:srgbClr val="1E1E1E"/>
                </a:solidFill>
                <a:latin typeface="Montserrat Ultra-Bold"/>
                <a:ea typeface="Montserrat Ultra-Bold"/>
                <a:cs typeface="Montserrat Ultra-Bold"/>
                <a:sym typeface="Montserrat Ultra-Bold"/>
              </a:rPr>
              <a:t>thank you</a:t>
            </a:r>
          </a:p>
        </p:txBody>
      </p:sp>
      <p:sp>
        <p:nvSpPr>
          <p:cNvPr name="Freeform 3" id="3"/>
          <p:cNvSpPr/>
          <p:nvPr/>
        </p:nvSpPr>
        <p:spPr>
          <a:xfrm flipH="false" flipV="false" rot="0">
            <a:off x="16942223" y="1074087"/>
            <a:ext cx="317077" cy="149891"/>
          </a:xfrm>
          <a:custGeom>
            <a:avLst/>
            <a:gdLst/>
            <a:ahLst/>
            <a:cxnLst/>
            <a:rect r="r" b="b" t="t" l="l"/>
            <a:pathLst>
              <a:path h="149891" w="317077">
                <a:moveTo>
                  <a:pt x="0" y="0"/>
                </a:moveTo>
                <a:lnTo>
                  <a:pt x="317077" y="0"/>
                </a:lnTo>
                <a:lnTo>
                  <a:pt x="317077" y="149891"/>
                </a:lnTo>
                <a:lnTo>
                  <a:pt x="0" y="1498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DAHNjn9C29k</dc:identifier>
  <dcterms:modified xsi:type="dcterms:W3CDTF">2011-08-01T06:04:30Z</dcterms:modified>
  <cp:revision>1</cp:revision>
  <dc:title>Black and Gray Minimalist Creative Portfolio Presentation</dc:title>
</cp:coreProperties>
</file>